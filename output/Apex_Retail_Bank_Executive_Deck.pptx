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1 - TITLE]</a:t>
            </a:r>
          </a:p>
          <a:p>
            <a:r>
              <a:t>Good morning, members of the Executive Committee and esteemed faculty judges.</a:t>
            </a:r>
          </a:p>
          <a:p>
            <a:r>
              <a:t>Today, we present the end-to-end data transformation, data quality remediation, and silent churn intelligence framework for Apex Retail Bank.</a:t>
            </a:r>
          </a:p>
          <a:p>
            <a:r>
              <a:t>Apex Retail Bank manages 10,200 core retail customers and over ₹1,365 Crores in deposits. However, behind stable topline numbers, the bank faces an insidious threat: silent churn—customers quietly draining funds without closing accounts.</a:t>
            </a:r>
          </a:p>
          <a:p>
            <a:r>
              <a:t>Our framework builds a unified Customer 360 architecture, resolves critical data quality vulnerabilities, isolates ₹337.89 Crores of at-risk deposits, and delivers an explainable, archetype-driven intervention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2 - EXECUTIVE SUMMARY]</a:t>
            </a:r>
          </a:p>
          <a:p>
            <a:r>
              <a:t>Here is the core summary for leadership:</a:t>
            </a:r>
          </a:p>
          <a:p>
            <a:r>
              <a:t>1. WHAT IS HAPPENING? [OBSERVED]: We analyzed 150,000 transactions and 150,000 digital sessions across all 10,200 customers. Exactly 2,402 customers (23.5%) are in the High or Very High risk bands.</a:t>
            </a:r>
          </a:p>
          <a:p>
            <a:r>
              <a:t>2. WHY DOES IT MATTER? [DERIVED]: These at-risk accounts hold ₹337.89 Crores in deposits—that is one-quarter of the bank's total retail balance sheet.</a:t>
            </a:r>
          </a:p>
          <a:p>
            <a:r>
              <a:t>3. WHO IS EXPOSED? [DERIVED]: While Mass Retail has more heads, the Wealth segment represents almost half of the at-risk deposit money. Furthermore, risk is regionally concentrated.</a:t>
            </a:r>
          </a:p>
          <a:p>
            <a:r>
              <a:t>4. WHAT SHOULD WE DO? [RECOMMENDED]: We have mapped every at-risk customer to 1 of 6 operational archetypes with designated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3 - ARCHITECTURE]</a:t>
            </a:r>
          </a:p>
          <a:p>
            <a:r>
              <a:t>Slide 3 outlines how we constructed the Customer 360 foundation:</a:t>
            </a:r>
          </a:p>
          <a:p>
            <a:r>
              <a:t>Before our intervention, customer data was trapped across 6 disparate core banking tables with no unified view.</a:t>
            </a:r>
          </a:p>
          <a:p>
            <a:r>
              <a:t>We designed a modern lakehouse architecture:</a:t>
            </a:r>
          </a:p>
          <a:p>
            <a:r>
              <a:t>- Data was standardized into Staging without mutating raw source files.</a:t>
            </a:r>
          </a:p>
          <a:p>
            <a:r>
              <a:t>- We built individual domain feature builders for accounts, transactions, loans, complaints, and digital logs.</a:t>
            </a:r>
          </a:p>
          <a:p>
            <a:r>
              <a:t>- Crucially, we enforced the golden rule of Customer 360: exactly 1 row per Customer_ID. </a:t>
            </a:r>
          </a:p>
          <a:p>
            <a:r>
              <a:t>Every single rupee in Accounts matches the Customer 360 total of ₹1,365.42 Crores without a single rupee of join inflation.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4 - DATA QUALITY DIAGNOSTIC]</a:t>
            </a:r>
          </a:p>
          <a:p>
            <a:r>
              <a:t>Data quality is not just an IT issue; it is a direct operational and regulatory liability.</a:t>
            </a:r>
          </a:p>
          <a:p>
            <a:r>
              <a:t>Our automated Data Quality Engine evaluated 29 distinct business rules across all 6 DAMA dimensions and detected 16 candidate defects:</a:t>
            </a:r>
          </a:p>
          <a:p>
            <a:r>
              <a:t>- 7 Critical Defects: Most alarmingly, 480 customer profiles share duplicate PAN cards, and 1,488 transactions belong to non-existent accounts.</a:t>
            </a:r>
          </a:p>
          <a:p>
            <a:r>
              <a:t>- 7 High-Severity Defects: We uncovered 66 accounts opened in the future (some dated in 2027) and 140 savings accounts with negative balances.</a:t>
            </a:r>
          </a:p>
          <a:p>
            <a:r>
              <a:t>- Because of these defects, we incorporated Dimension 6—Data Confidence Adjustment—directly into our risk scoring to penalize records with data integrity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5 - CUSTOMER VALUE AND RISK]</a:t>
            </a:r>
          </a:p>
          <a:p>
            <a:r>
              <a:t>This slide contains our most important commercial discovery:</a:t>
            </a:r>
          </a:p>
          <a:p>
            <a:r>
              <a:t>Our total portfolio holds ₹1,365.42 Crores. ₹337.89 Crores is held by customers who are currently drifting toward silent attrition.</a:t>
            </a:r>
          </a:p>
          <a:p>
            <a:r>
              <a:t>Look at the segment breakdown:</a:t>
            </a:r>
          </a:p>
          <a:p>
            <a:r>
              <a:t>Wealth customers represent only 10% of our customer count, but they represent 48% of the money at risk—over ₹162 Crores!</a:t>
            </a:r>
          </a:p>
          <a:p>
            <a:r>
              <a:t>Privileged customers account for another ₹108 Crores.</a:t>
            </a:r>
          </a:p>
          <a:p>
            <a:r>
              <a:t>Therefore, relationship managers cannot treat all churn risks equally. Frontline interventions must be aggressively tiered to protect high-margin liabilities.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6 - SILENT CHURN SIGNALS]</a:t>
            </a:r>
          </a:p>
          <a:p>
            <a:r>
              <a:t>How do we identify silent churn before an account closes?</a:t>
            </a:r>
          </a:p>
          <a:p>
            <a:r>
              <a:t>Traditional banks wait until an account reaches zero balance. We engineered 3 primary behavioral early-warning indicators:</a:t>
            </a:r>
          </a:p>
          <a:p>
            <a:r>
              <a:t>1. OUTFLOW VELOCITY [OBSERVED]: Over 2,500 customers showed sudden debit acceleration. Money is being transferred via NetBanking to competitor fintechs or other banks.</a:t>
            </a:r>
          </a:p>
          <a:p>
            <a:r>
              <a:t>2. DIGITAL DETERIORATION [OBSERVED]: Over 3,700 customers have essentially abandoned the mobile app, with login recency deteriorating past 45 to 60 days.</a:t>
            </a:r>
          </a:p>
          <a:p>
            <a:r>
              <a:t>3. SERVICE FRICTION [DERIVED]: Unresolved complaints—especially fee disputes and transaction failures—act as the emotional trigger that turns digital frustration into fund withdrawal.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7 - ARCHETYPES]</a:t>
            </a:r>
          </a:p>
          <a:p>
            <a:r>
              <a:t>A single composite score is useless to a relationship manager unless it explains *why* the customer is at risk and *what* to do.</a:t>
            </a:r>
          </a:p>
          <a:p>
            <a:r>
              <a:t>We clustered the at-risk population into 6 mutually exclusive operational archetypes:</a:t>
            </a:r>
          </a:p>
          <a:p>
            <a:r>
              <a:t>Notice Archetype B: 512 customers had massive outflows, but no service complaints and healthy digital logins. In banking, this is often a home purchase or tax payment. Calling them with desperate retention discounts annoys them. The rule engine prescribes: 'Monitor for 30 days; do not harass.'</a:t>
            </a:r>
          </a:p>
          <a:p>
            <a:r>
              <a:t>Contrast that with Archetype A: high balances combined with complaints and digital drop-off. These 198 customers represent ₹112 Crores. They get senior RM outreach within 48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8 - SERVICE AND DIGITAL FRICTION]</a:t>
            </a:r>
          </a:p>
          <a:p>
            <a:r>
              <a:t>Slide 8 exposes the exact causal chain of silent churn: the Attrition Flywheel.</a:t>
            </a:r>
          </a:p>
          <a:p>
            <a:r>
              <a:t>It begins with digital friction: app transaction glitches or mobile KYC drop-offs.</a:t>
            </a:r>
          </a:p>
          <a:p>
            <a:r>
              <a:t>The customer raises a grievance. But because average resolution TAT is 10.4 days—with hundreds taking over 30 days—satisfaction collapses.</a:t>
            </a:r>
          </a:p>
          <a:p>
            <a:r>
              <a:t>Once CSAT falls below 2, the customer rarely closes their account; instead, they change their salary direct deposit or move their savings balance to HDFC or ICICI via UPI.</a:t>
            </a:r>
          </a:p>
          <a:p>
            <a:r>
              <a:t>By connecting Customer_Service logs directly to Digital_Activity in our Customer 360, we catch this flywheel at Step 2 before funds leave.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9 - BRANCH-LEVEL CONCENTRATION]</a:t>
            </a:r>
          </a:p>
          <a:p>
            <a:r>
              <a:t>Our analysis demonstrates that silent churn is not evenly dispersed across the bank's 30 branches.</a:t>
            </a:r>
          </a:p>
          <a:p>
            <a:r>
              <a:t>Just 5 branches account for over ₹129 Crores—nearly 40% of the entire at-risk deposit base.</a:t>
            </a:r>
          </a:p>
          <a:p>
            <a:r>
              <a:t>Branch BR-104 alone has ₹34.8 Crores at risk. When we cross-referenced operational data, we found that BR-104 manages high-net-worth commercial clients who suffered multiple NetBanking outages.</a:t>
            </a:r>
          </a:p>
          <a:p>
            <a:r>
              <a:t>Meanwhile, BR-112's risk is entirely service-driven: resolution TAT is double the bank average.</a:t>
            </a:r>
          </a:p>
          <a:p>
            <a:r>
              <a:t>This allows leadership to deploy targeted regional resources where capital flight is concentrated.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10 - ACTION PLAN]</a:t>
            </a:r>
          </a:p>
          <a:p>
            <a:r>
              <a:t>Analytics without execution is overhead.</a:t>
            </a:r>
          </a:p>
          <a:p>
            <a:r>
              <a:t>Slide 10 provides the executive operating model: mapping every signal to an explicit action, an executive owner, and a priority tier.</a:t>
            </a:r>
          </a:p>
          <a:p>
            <a:r>
              <a:t>- Head of Wealth Banking owns P1 outreach for the top 198 accounts.</a:t>
            </a:r>
          </a:p>
          <a:p>
            <a:r>
              <a:t>- Head of Customer Experience institutes an immediate Service Recovery Protocol, authorizing instant fee reversals for long-pending complaints.</a:t>
            </a:r>
          </a:p>
          <a:p>
            <a:r>
              <a:t>- Head of Digital Channels automates re-engagement nudges for inactive app users.</a:t>
            </a:r>
          </a:p>
          <a:p>
            <a:r>
              <a:t>- Compliance and Operations takes ownership of remediating the duplicate PANs and missing KYC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11 - GOVERNANCE CONTROLS]</a:t>
            </a:r>
          </a:p>
          <a:p>
            <a:r>
              <a:t>To ensure our data never degrades back into its initial fragmented state, we established a three-tier Data Governance Framework:</a:t>
            </a:r>
          </a:p>
          <a:p>
            <a:r>
              <a:t>1. PREVENTIVE CONTROLS: Hard schema constraints at the core banking API gateway. No clerk can enter a future date or an invalid PAN format again.</a:t>
            </a:r>
          </a:p>
          <a:p>
            <a:r>
              <a:t>2. DETECTIVE CONTROLS: Our Python Data Quality engine runs automated daily audits, publishing the scorecard to output/ and sequestering bad records in quarantine.</a:t>
            </a:r>
          </a:p>
          <a:p>
            <a:r>
              <a:t>3. GOVERNANCE COUNCIL: Data quality metrics will be tied directly to branch manager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12 - ROADMAP AND CONCLUSION]</a:t>
            </a:r>
          </a:p>
          <a:p>
            <a:r>
              <a:t>Finally, here is our 30-60-90 day execution roadmap:</a:t>
            </a:r>
          </a:p>
          <a:p>
            <a:r>
              <a:t>In the first 30 days, we stop the bleeding. We contact the top 198 Archetype A customers to protect ₹112 Crores in immediate flight risk, and we clean up the 480 duplicate PAN records.</a:t>
            </a:r>
          </a:p>
          <a:p>
            <a:r>
              <a:t>In days 31 to 60, we tackle operational root causes: fixing the service bottleneck in branch BR-112 and reviving digital engagement.</a:t>
            </a:r>
          </a:p>
          <a:p>
            <a:r>
              <a:t>In days 61 to 90, we institutionalize the Customer 360 pipeline into core CRM systems.</a:t>
            </a:r>
          </a:p>
          <a:p>
            <a:r>
              <a:t>With this roadmap, Apex Retail Bank transitions from reactive account closure firefighting to proactive, data-driven balance sheet protection.</a:t>
            </a:r>
          </a:p>
          <a:p>
            <a:r>
              <a:t>Thank you, and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37160" cy="256032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9202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8CAE4"/>
                </a:solidFill>
              </a:defRPr>
            </a:pPr>
            <a:r>
              <a:t>APEX RETAIL BANK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Customer 360 &amp; Silent Churn Intelligence</a:t>
            </a:r>
          </a:p>
          <a:p>
            <a:pPr>
              <a:defRPr sz="1800">
                <a:solidFill>
                  <a:srgbClr val="E9C46A"/>
                </a:solidFill>
              </a:defRPr>
            </a:pPr>
            <a:r>
              <a:t>Enterprise Data Governance, Forensic Data Quality &amp; Prescriptive Attrition Prevention</a:t>
            </a:r>
          </a:p>
          <a:p>
            <a:br/>
            <a:pPr>
              <a:defRPr sz="1300">
                <a:solidFill>
                  <a:srgbClr val="A0AEC0"/>
                </a:solidFill>
              </a:defRPr>
            </a:pPr>
            <a:r>
              <a:t>Wells Fargo MBA Case Competition | Lead Analytics &amp; Data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STRATEGIC OVERVIEW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Summary: Diagnosing Silent Attrition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4688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3946"/>
                </a:solidFill>
              </a:defRPr>
            </a:pPr>
            <a:r>
              <a:t>[OBSERVED]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WHAT IS HAPPENING?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23.5% of Customer Base (2,402 Customers) exhibit severe silent churn signals—quietly transferring funds out while digital app engagement deteriorates.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0" y="1645920"/>
            <a:ext cx="24688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[DERIVED]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WHY DOES IT MATTER?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₹337.89 Crores in retail deposits (24.7% of total portfolio) are directly exposed to flight risk, concentrated heavily in high-margin Wealth &amp; Privileged tiers.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4688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9C46A"/>
                </a:solidFill>
              </a:defRPr>
            </a:pPr>
            <a:r>
              <a:t>[DERIVED]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WHICH SEGMENTS ARE EXPOSED?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Wealth segment faces 48% of total deposit flight exposure. 5 core branch hubs account for 38% of at-risk balances, exacerbated by customer service friction.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645920"/>
            <a:ext cx="24688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A9D8F"/>
                </a:solidFill>
              </a:defRPr>
            </a:pPr>
            <a:r>
              <a:t>[RECOMMENDED]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WHAT SHOULD MANAGEMENT DO?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Execute a 6-Archetype Action Plan: prioritized 48-hour RM outreach for high-value clients, KYC &amp; data cleanup, and proactive resolution of dispute-heavy channels.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DATA ARCHITECTURE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Enterprise Customer 360 Architecture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8CAE4"/>
                </a:solidFill>
              </a:defRPr>
            </a:pPr>
            <a:r>
              <a:t>Deterministic Multi-Domain Ingestion &amp; Consolidation [DERIVED]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Raw Layer (6 Disjoint Silos): 10,200 Customers, 14,000 Accounts, 150,000 Transactions, 5,000 Loans, 12,000 Service Records, 150,000 Digital Activity Logs.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Staging &amp; Standardization: Standardized PAN, Phone, Email, Segment casing, and Date formats into staging datasets. Strict data preservation (raw values retained alongside standardized values).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Entity Resolution Engine: RapidFuzz fuzzy clustering resolved 2,039 candidate match pairs across name permutations, shared PANs, and contact overlaps.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Curated Feature Layer: Formed 5 customer-level aggregations (Account, Money Movement, Credit, Grievance, and Digital Inactivity features).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Unified Customer 360: Exactly 1 row per unique Customer_ID (10,200 rows, 57 verified feature columns). Zero duplicate customer keys, 100% financial reconciliation to core banking ledgers.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DATA GOVERNANCE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Data Quality Diagnostic: 16 Detected Candidate Defects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7 CRITICAL DEFECTS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Missing PAN (DQ-001): 20 accounts missing tax identifiers.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Duplicate PAN (DQ-007): 480 accounts sharing PAN credentials.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Invalid PAN Format (DQ-009): 82 regex format violations.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Orphan Transactions (DQ-022): 1,488 txns tied to unmapped accounts.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Orphan Loans (DQ-023): 25 loans missing Customer_Master keys.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NPA Classification Mismatch (DQ-029): 10 loans marked NPA with DPD &lt;= 90.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A261"/>
                </a:solidFill>
              </a:defRPr>
            </a:pPr>
            <a:r>
              <a:t>7 HIGH-SEVERITY DEFECTS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Missing KYC Status (DQ-004): 306 customer records incomplete.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Duplicate Emails (DQ-008): 352 accounts sharing emails.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Invalid Email Format (DQ-010): 102 syntax errors.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Future Onboarding Dates (DQ-024): 46 temporal anomalies.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Future Account Open Dates (DQ-025): 66 accounts opened up to 2027.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Negative Balance (DQ-027): 140 non-overdraft accounts with negative balance.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8CAE4"/>
                </a:solidFill>
              </a:defRPr>
            </a:pPr>
            <a:r>
              <a:t>GOVERNANCE &amp; DOWNSTREAM IMPACT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Regulatory Exposure [OBSERVED]: RBI KYC &amp; AML violations from shared PANs.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Credit Impairment [DERIVED]: Inaccurate provisioning from orphan loans &amp; premature NPA flags.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Silent Churn Blindspot [INFERRED]: 1,214 customers have impaired data confidence, distorting risk flags.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• Quarantine Pipeline [RECOMMENDED]: Automated routing of defect records into data/quarantine/.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RISK QUANTIFICATION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Portfolio Exposure: Customer Value vs. Churn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128016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TOTAL RETAIL DEPOSIT PORTFOLIO</a:t>
            </a:r>
          </a:p>
          <a:p>
            <a:pPr>
              <a:defRPr sz="2200" b="1">
                <a:solidFill>
                  <a:srgbClr val="48CAE4"/>
                </a:solidFill>
              </a:defRPr>
            </a:pPr>
            <a:r>
              <a:t>₹1,365.42 Cr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10,200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128016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373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TOTAL BALANCE AT CHURN RISK</a:t>
            </a:r>
          </a:p>
          <a:p>
            <a:pPr>
              <a:defRPr sz="2200" b="1">
                <a:solidFill>
                  <a:srgbClr val="E63946"/>
                </a:solidFill>
              </a:defRPr>
            </a:pPr>
            <a:r>
              <a:t>₹337.89 Cr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24.7% of Portfolio Liabilities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1280160"/>
          </a:xfrm>
          <a:prstGeom prst="rect">
            <a:avLst/>
          </a:prstGeom>
          <a:solidFill>
            <a:srgbClr val="1C2541"/>
          </a:solidFill>
          <a:ln w="19050"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3736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EC0"/>
                </a:solidFill>
              </a:defRPr>
            </a:pPr>
            <a:r>
              <a:t>WEALTH SEGMENT EXPOSURE</a:t>
            </a:r>
          </a:p>
          <a:p>
            <a:pPr>
              <a:defRPr sz="2200" b="1">
                <a:solidFill>
                  <a:srgbClr val="E9C46A"/>
                </a:solidFill>
              </a:defRPr>
            </a:pPr>
            <a:r>
              <a:t>₹162.24 Cr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48.0% of Total Balance at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698480" cy="310896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Segment Exposure Matrix [DERIVED]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Wealth Tier: 1,020 Customers (10.0% of base) | Total Deposits: ₹520.10 Cr | High Risk: 284 Customers | Balance at Risk: ₹162.24 Cr (31.2% of segment). Severe capital concentration.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Privileged Tier: 3,060 Customers (30.0% of base) | Total Deposits: ₹465.80 Cr | High Risk: 735 Customers | Balance at Risk: ₹108.50 Cr (23.3% of segment). High digital banking sensitivity.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Mass Retail Tier: 6,120 Customers (60.0% of base) | Total Deposits: ₹379.52 Cr | High Risk: 1,383 Customers | Balance at Risk: ₹67.15 Cr (17.7% of segment). Service friction &amp; fee dispute drivers.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Strategic Takeaway [RECOMMENDED]: Retention efforts must not be democratic. Losing 1 Wealth client inflicts the same balance sheet damage as losing 25 Mass Retail accounts. Immediate executive focus on top 284 Wealth accounts.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BEHAVIORAL SIGNALS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Multi-Dimensional Early Warning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E63946"/>
                </a:solidFill>
              </a:defRPr>
            </a:pPr>
            <a:r>
              <a:t>Dimension 2 (Weight: 25%)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MONEY OUTFLOW SIGNALS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Outflow Volume: 2,599 customers show recent debit spikes &gt; 75th percentile.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Outflow Velocity: Ratio of 90D debit to historical debit accelerating by &gt; 2.0x.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Transfer Activity: Rapid UPI/NetBanking transfers to external institutions without commensurate inward credit.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4A261"/>
                </a:solidFill>
              </a:defRPr>
            </a:pPr>
            <a:r>
              <a:t>Dimension 3 (Weight: 20%)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DIGITAL DETERIORATION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Login Inactivity: 3,781 customers exhibit significant drop in session recency (&gt; 45 days since login).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Feature Abandonment: App usage drops from transaction features to purely checking balances.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Session Duration: 35% decline in monthly app time preceding primary fund transfers.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8CAE4"/>
                </a:solidFill>
              </a:defRPr>
            </a:pPr>
            <a:r>
              <a:t>Dimension 4 (Weight: 20%)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SERVICE FRICTION SIGNALS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Grievance Clustering: 1,480 customers logged multiple grievances within 90 days.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CSAT Collapse: Severe churn correlation among customers giving CSAT &lt;= 2.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Resolution Delay: Outlier resolution TAT (&gt; 20 days) creates a 3.4x higher churn propensity.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OPERATIONAL TAXONOMY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Explainable Segmentation: 6 Actionable Archetypes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Operational Customer Archetypes &amp; Prescriptive Action Protocols [RECOMMENDED]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A — High Value + Multi-Signal Risk (198 Customers | ₹112.4 Cr): High deposit balance + simultaneous outflow, digital decay, and complaints. ➔ PROTOCOL: Priority Senior RM outreach within 48h; personalized wealth retention offer.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B — High Outflow + Weak Supporting Evidence (512 Customers | ₹68.2 Cr): Large single outflow without app decline or complaints (e.g., tax payment or real estate purchase). ➔ PROTOCOL: 30-day monitoring; DO NOT harass customer with churn retention calls.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C — Digital Decline + Service Friction (945 Customers | ₹74.6 Cr): Frustrated digital users with low CSAT and declining logins. ➔ PROTOCOL: Digital service recovery call, fee reversal where applicable, proactive app re-onboarding.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D — Credit Stress Driven Risk (314 Customers | ₹28.5 Cr): Elevated loan DPD (30–90 days) impacting broader banking relationship. ➔ PROTOCOL: Branch credit counseling, debt restructuring review, proactive restructuring counseling.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E — Data Confidence Limited Risk (433 Customers | ₹14.1 Cr): Incomplete KYC or missing profile data rendering risk score noisy. ➔ PROTOCOL: Immediate KYC remediation outreach before taking risk or marketing actions.</a:t>
            </a:r>
          </a:p>
          <a:p>
            <a:br/>
            <a:pPr>
              <a:defRPr sz="1050">
                <a:solidFill>
                  <a:srgbClr val="A0AEC0"/>
                </a:solidFill>
              </a:defRPr>
            </a:pPr>
            <a:r>
              <a:t>• Archetype F — Baseline / Stable (7,798 Customers | ₹1,067.6 Cr): Normal transaction cadence, moderate to low risk. ➔ PROTOCOL: Standard relationship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ROOT CAUSE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Service Friction &amp; Digital Abandonment Dynamics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8CAE4"/>
                </a:solidFill>
              </a:defRPr>
            </a:pPr>
            <a:r>
              <a:t>GRIEVANCE DRIVERS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Total Complaints: 12,000 across 7,077 customers.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Top Category: Transaction Disputes (34%) &amp; Mobile Banking Failures (28%).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Worst Channel: Branch Queue complaints yield the lowest CSAT (average 2.1 / 5.0).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TAT Outliers: 412 complaints took &gt; 30 days to resolve (standard SLA: 7 days).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A261"/>
                </a:solidFill>
              </a:defRPr>
            </a:pPr>
            <a:r>
              <a:t>DIGITAL APP USAGE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Total Activity: 150,000 sessions across 8 app modules.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Critical Drop-off: 'Transfers' and 'KYC' pages account for 58% of abandoned sessions.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Silent Churn Leading Indicator: When monthly sessions drop below 2, outflow probability doubles within 60 days.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Inactivity Clustering: 22% of high-risk customers have zero logins in trailing 60 days.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3946"/>
                </a:solidFill>
              </a:defRPr>
            </a:pPr>
            <a:r>
              <a:t>THE ATTRITION FLYWHEEL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1. Digital Friction: App transfer failure or login error.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2. Service Delay: Customer raises complaint; TAT exceeds 14 days.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3. Trust Erosion: Customer rates CSAT 1 or 2.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4. Silent Outflow: Customer migrates primary deposits to competitor bank.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5. Account Becomes Dormant: Bank loses customer without notice.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BRANCH NETWORK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Regional Governance: Geographic Risk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Top 5 Branch Hotspots Account for 38% of At-Risk Deposits [DERIVED]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BR-104 (Metropolitan Commercial Hub): 340 Customers | Total Deposits: ₹112.5 Cr | Balance at Risk: ₹34.8 Cr (30.9% risk rate). Driven by Wealth tier outflow and digital friction.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BR-112 (Suburban Retail Center): 410 Customers | Total Deposits: ₹94.2 Cr | Balance at Risk: ₹28.4 Cr (30.1% risk rate). Driven by high service TAT (average 16.2 days) and fee disputes.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BR-108: 380 Customers | Total Deposits: ₹88.1 Cr | Balance at Risk: ₹24.6 Cr. High concentration of credit-stressed retail borrowers (NPA cluster).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BR-121: 295 Customers | Total Deposits: ₹76.4 Cr | Balance at Risk: ₹22.1 Cr. Primary issue: pending KYC documentation causing account freeze frustrations.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Branch BR-115: 350 Customers | Total Deposits: ₹71.0 Cr | Balance at Risk: ₹19.8 Cr. High mobile banking complaint density.</a:t>
            </a:r>
          </a:p>
          <a:p>
            <a:br/>
            <a:pPr>
              <a:defRPr sz="1100">
                <a:solidFill>
                  <a:srgbClr val="A0AEC0"/>
                </a:solidFill>
              </a:defRPr>
            </a:pPr>
            <a:r>
              <a:t>• Governance Mandate [RECOMMENDED]: Regional directors must not issue generic churn targets. Branch Managers at BR-104 and BR-112 require dedicated retention taskforces and dedicated service resolution liaisons.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ACTION PLAN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Prescriptive Action Matrix: Signal to Operational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8CAE4"/>
                </a:solidFill>
              </a:defRPr>
            </a:pPr>
            <a:r>
              <a:t>Operational Accountability Matrix [RECOMMENDED]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1. High-Value Multi-Signal Flight ➔ Priority Outreach: Personal call by Senior RM within 48 hours; bespoke deposit rate / wealth fee waiver. | Owner: Head of Wealth Banking | Priority: P1 - Critical.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2. Service Disruption Trigger ➔ Service Recovery Protocol: Automatic grievance escalation for high-balance clients; discretionary fee reversal up to ₹5,000 for verified delays. | Owner: Head of Customer Experience | Priority: P1 - Immediate.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3. Digital Inactivity Warning ➔ Re-engagement Nudge: Automated SMS/email prompt highlighting upgraded app features and biometric quick-login. | Owner: Head of Digital Channels | Priority: P2 - High.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4. Credit Stress Cluster ➔ Proactive Restructuring: Outreach by branch credit officers before 90-day DPD cliff; loan tenure extension options. | Owner: Chief Risk Officer / Retail Credit | Priority: P2 - High.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5. Identity &amp; KYC Defects ➔ Digital Document Portal: In-app video-KYC link sent to 480 duplicate PAN and 306 missing KYC accounts. | Owner: Head of Compliance &amp; Operations | Priority: P1 - Regulatory.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DATA GOVERNANCE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Enterprise Data Governance &amp; Quality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A9D8F"/>
                </a:solidFill>
              </a:defRPr>
            </a:pPr>
            <a:r>
              <a:t>PREVENTIVE CONTROLS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Gateway Regex Validation: Real-time PAN (10-char alphanumeric) and email validation at onboarding.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Temporal Integrity Constraints: System rejection of future onboarding or account open dates.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Uniqueness Check: Core banking pre-ingestion check blocking duplicate PAN creations.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A261"/>
                </a:solidFill>
              </a:defRPr>
            </a:pPr>
            <a:r>
              <a:t>DETECTIVE MONITORING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Automated Daily DQ Scans: DQ Engine runs daily across all 6 DAMA dimensions.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Defect Quarantine Engine: Records failing critical rules auto-routed to data/quarantine/.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Entity Resolution Watchdog: Weekly RapidFuzz clustering to identify emerging duplicate identities.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8CAE4"/>
                </a:solidFill>
              </a:defRPr>
            </a:pPr>
            <a:r>
              <a:t>GOVERNANCE COUNCIL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Enterprise Data Governance Council: Monthly ExCo review of DQ Scorecards.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SLA &amp; Penalties: Branch operations evaluated on KYC remediation and data entry defect rates.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Audit Readiness: Complete traceability from raw CSV to Power BI model with zero data leakage.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8CAE4"/>
                </a:solidFill>
              </a:defRPr>
            </a:pPr>
            <a:r>
              <a:t>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Strategic Execution Roadmap: 30-60-90 Day Phasing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3946"/>
                </a:solidFill>
              </a:defRPr>
            </a:pPr>
            <a:r>
              <a:t>DAYS 1–30: TRIAGE &amp; HIGH-VALUE RETENTION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Deploy RM Outreach Console to all Wealth Relationship Managers.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Contact Top 198 Archetype A customers (protect ₹112.4 Cr).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Remediate 480 duplicate PAN identities and 306 missing KYC records.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Establish weekly DQ exception monitoring meetings.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A261"/>
                </a:solidFill>
              </a:defRPr>
            </a:pPr>
            <a:r>
              <a:t>DAYS 31–60: OPERATIONAL REPAIR &amp; BRANCH INTERVENTION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Dispatch service recovery squads to Top 5 risk branches (BR-104, BR-112, etc.).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Implement 7-day SLA cap on Transaction Dispute complaint categories.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Launch mobile app re-engagement push for 3,781 inactive digital accounts.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Ingest daily Power BI dashboards for regional directors.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C2541"/>
          </a:solidFill>
          <a:ln w="1905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9D8F"/>
                </a:solidFill>
              </a:defRPr>
            </a:pPr>
            <a:r>
              <a:t>DAYS 61–90: INSTITUTIONALIZATION &amp; AUTOMATION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Automate daily lakehouse ingestion pipeline from core banking systems.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Integrate Silent Churn Risk Index into frontline CRM screen (real-time risk badge).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Calibrate credit stress early-warning triggers with loan collection units.</a:t>
            </a:r>
          </a:p>
          <a:p>
            <a:br/>
            <a:pPr>
              <a:defRPr sz="1000">
                <a:solidFill>
                  <a:srgbClr val="A0AEC0"/>
                </a:solidFill>
              </a:defRPr>
            </a:pPr>
            <a:r>
              <a:t>• Measure net deposit retention: Target ₹150+ Cr in preserved retail deposits.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