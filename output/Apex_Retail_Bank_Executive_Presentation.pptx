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1 - TITLE]</a:t>
            </a:r>
          </a:p>
          <a:p>
            <a:r>
              <a:t>Good morning, members of the Executive Committee and esteemed faculty judges.</a:t>
            </a:r>
          </a:p>
          <a:p>
            <a:r>
              <a:t>Today, we present the end-to-end data transformation, data quality remediation, and silent churn intelligence framework for Apex Retail Bank.</a:t>
            </a:r>
          </a:p>
          <a:p>
            <a:r>
              <a:t>Apex Retail Bank manages 10,200 core retail customers and over ₹1,365 Crores in deposits. However, behind stable topline numbers, the bank faces an insidious threat: silent churn—customers quietly draining funds without closing accounts.</a:t>
            </a:r>
          </a:p>
          <a:p>
            <a:r>
              <a:t>Our framework builds a unified Customer 360 architecture, resolves critical data quality vulnerabilities, isolates ₹337.89 Crores of at-risk deposits, and delivers an explainable, archetype-driven intervention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2 - EXECUTIVE SUMMARY]</a:t>
            </a:r>
          </a:p>
          <a:p>
            <a:r>
              <a:t>Here is the core summary for leadership:</a:t>
            </a:r>
          </a:p>
          <a:p>
            <a:r>
              <a:t>1. WHAT IS HAPPENING? [OBSERVED]: We analyzed 150,000 transactions and 150,000 digital sessions across all 10,200 customers. Exactly 2,402 customers (23.5%) are in the High or Very High risk bands.</a:t>
            </a:r>
          </a:p>
          <a:p>
            <a:r>
              <a:t>2. WHY DOES IT MATTER? [DERIVED]: These at-risk accounts hold ₹337.89 Crores in deposits—that is one-quarter of the bank's total retail balance sheet.</a:t>
            </a:r>
          </a:p>
          <a:p>
            <a:r>
              <a:t>3. WHO IS EXPOSED? [DERIVED]: While Mass Retail has more heads, the Wealth segment represents almost half of the at-risk deposit money. Furthermore, risk is regionally concentrated.</a:t>
            </a:r>
          </a:p>
          <a:p>
            <a:r>
              <a:t>4. WHAT SHOULD WE DO? [RECOMMENDED]: We have mapped every at-risk customer to 1 of 6 operational archetypes with designated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3 - DELIVERABLE 1: DATASET DISCOVERY &amp; RELATIONAL MODEL]</a:t>
            </a:r>
          </a:p>
          <a:p>
            <a:r>
              <a:t>Deliverable 1 requires establishing the grain, keys, missingness, matching rules, and join inflation risks across all 6 datasets.</a:t>
            </a:r>
          </a:p>
          <a:p>
            <a:r>
              <a:t>Key discoveries:</a:t>
            </a:r>
          </a:p>
          <a:p>
            <a:r>
              <a:t>1. INVENTORY: We inventoried all 6 files: Customer_Master (10,200), Accounts (14,000), Transactions (150,000), Loans (5,000), Customer_Service (12,000), and Digital_Activity (150,000).</a:t>
            </a:r>
          </a:p>
          <a:p>
            <a:r>
              <a:t>2. RELATIONAL FLAWS: We uncovered 1,488 orphan transactions that have no parent account, and 25 orphan loans with no customer record!</a:t>
            </a:r>
          </a:p>
          <a:p>
            <a:r>
              <a:t>3. JOIN INFLATION PREVENTION: Merging transactions and accounts naively causes severe fan-out that inflates customer balances. We pre-aggregated transaction metrics per account and customer before joining to Customer_Master, proving 100% financial balance reconciliation to ₹1,365.42 Crores.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4 - DELIVERABLE 1: 18 COMMERCIAL &amp; ANALYTICAL QUESTIONS]</a:t>
            </a:r>
          </a:p>
          <a:p>
            <a:r>
              <a:t>The workshop guide requires formulating at least three commercial or analytical questions per dataset that tie directly to profitability, liquidity, service quality, digital engagement, and credit risk.</a:t>
            </a:r>
          </a:p>
          <a:p>
            <a:r>
              <a:t>We formulated 18 high-impact questions across the 6 datasets:</a:t>
            </a:r>
          </a:p>
          <a:p>
            <a:r>
              <a:t>- On Accounts &amp; Liquidity: We investigate branch deposit concentration and RM workload capacity.</a:t>
            </a:r>
          </a:p>
          <a:p>
            <a:r>
              <a:t>- On Transactions &amp; Profitability: We measure net money movement and debit acceleration.</a:t>
            </a:r>
          </a:p>
          <a:p>
            <a:r>
              <a:t>- On Customer Service: We test whether fee disputes directly trigger subsequent large fund withdrawals.</a:t>
            </a:r>
          </a:p>
          <a:p>
            <a:r>
              <a:t>- On Digital Activity: We track whether feature narrowing and app inactivity act as the earliest behavioral indicators of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5 - DELIVERABLE 2: DATA QUALITY SCORECARD &amp; REMEDIATION]</a:t>
            </a:r>
          </a:p>
          <a:p>
            <a:r>
              <a:t>Deliverable 2 accounts for 30% of the evaluation rubric.</a:t>
            </a:r>
          </a:p>
          <a:p>
            <a:r>
              <a:t>The mandate: evaluate the six DAMA dimensions (Completeness, Uniqueness, Validity, Consistency, Integrity, Timeliness) and detect at least 15 distinct defects.</a:t>
            </a:r>
          </a:p>
          <a:p>
            <a:r>
              <a:t>We detected 16 genuine candidate defects:</a:t>
            </a:r>
          </a:p>
          <a:p>
            <a:r>
              <a:t>- 7 Critical Defects: 480 accounts sharing duplicate PANs, 1,488 orphan transactions, and 10 premature NPA classifications.</a:t>
            </a:r>
          </a:p>
          <a:p>
            <a:r>
              <a:t>- 7 High Defects: 66 accounts opened in the future (some dated in 2027) and 140 negative savings balances.</a:t>
            </a:r>
          </a:p>
          <a:p>
            <a:r>
              <a:t>- All violating records are sequestered in data/quarantine/ without contaminating downstream models.</a:t>
            </a:r>
          </a:p>
          <a:p>
            <a:r>
              <a:t>- Full evidence is backed in data_quality_scorecard.xlsx and data_quality_defect_log.xlsx.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6 - DELIVERABLE 3: DATA DICTIONARY &amp; BUSINESS GLOSSARY]</a:t>
            </a:r>
          </a:p>
          <a:p>
            <a:r>
              <a:t>Deliverable 3 requires standardizing 15–20 critical fields with emphasis on Customer_Master and Loans.</a:t>
            </a:r>
          </a:p>
          <a:p>
            <a:r>
              <a:t>In output/business_glossary.xlsx, we documented 20 core enterprise terms:</a:t>
            </a:r>
          </a:p>
          <a:p>
            <a:r>
              <a:t>- For Customer_Master: We defined exact regex rules for PAN, DOB range rules, permitted segment values, and KYC statuses.</a:t>
            </a:r>
          </a:p>
          <a:p>
            <a:r>
              <a:t>- For Loans: We standardized DPD_Days and NPA_Flag under RBI IRAC norms.</a:t>
            </a:r>
          </a:p>
          <a:p>
            <a:r>
              <a:t>- For every entry, we assigned an explicit business steward, defined allowed values, and established a data trustworthiness tier.</a:t>
            </a:r>
          </a:p>
          <a:p>
            <a:r>
              <a:t>- Furthermore, our staging pipeline cleans all fields while preserving raw inputs side-by-side for complete data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7 - DELIVERABLE 4: CUSTOMER 360 &amp; RISK ENGINE]</a:t>
            </a:r>
          </a:p>
          <a:p>
            <a:r>
              <a:t>Deliverable 4 covers the interactive dashboard and executive synthesis.</a:t>
            </a:r>
          </a:p>
          <a:p>
            <a:r>
              <a:t>Our analytical Customer 360 table consolidates 10,200 unique customers across 57 engineered features.</a:t>
            </a:r>
          </a:p>
          <a:p>
            <a:r>
              <a:t>To answer the core question—'Which customers are at risk of churning and why should bank leadership care?'—we built a multi-dimensional Silent Churn Risk Index.</a:t>
            </a:r>
          </a:p>
          <a:p>
            <a:r>
              <a:t>Rather than making uncalibrated ML claims, our index combines 6 transparent, weighted dimensions.</a:t>
            </a:r>
          </a:p>
          <a:p>
            <a:r>
              <a:t>Notice Dimension 6: Data Confidence Adjustment. Customers with KYC gaps or orphan records receive a penalty, ensuring leadership knows when data quality impairs our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8 - DELIVERABLE 4: VALUE VS CHURN RISK]</a:t>
            </a:r>
          </a:p>
          <a:p>
            <a:r>
              <a:t>This slide quantifies the commercial exposure of silent churn:</a:t>
            </a:r>
          </a:p>
          <a:p>
            <a:r>
              <a:t>Our total portfolio holds ₹1,365.42 Crores. Exactly ₹337.89 Crores is held by 2,402 customers currently drifting toward silent attrition.</a:t>
            </a:r>
          </a:p>
          <a:p>
            <a:r>
              <a:t>Look at the segment breakdown:</a:t>
            </a:r>
          </a:p>
          <a:p>
            <a:r>
              <a:t>Wealth customers represent only 10% of our customer count, but they represent 48% of the money at risk—over ₹162 Crores!</a:t>
            </a:r>
          </a:p>
          <a:p>
            <a:r>
              <a:t>Privileged customers account for another ₹108 Crores.</a:t>
            </a:r>
          </a:p>
          <a:p>
            <a:r>
              <a:t>Therefore, relationship managers cannot treat all churn risks equally. Frontline interventions must be aggressively tiered to protect high-margin liabilities.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9 - DELIVERABLE 4: TRIANGULATED SIGNALS]</a:t>
            </a:r>
          </a:p>
          <a:p>
            <a:r>
              <a:t>The workshop guide warns: 'Do not assume that every large transaction is churn: use multiple pieces of evidence and explain your reasoning.'</a:t>
            </a:r>
          </a:p>
          <a:p>
            <a:r>
              <a:t>We triangulate three distinct signal pillars:</a:t>
            </a:r>
          </a:p>
          <a:p>
            <a:r>
              <a:t>1. OUTFLOW VELOCITY [OBSERVED]: Over 2,500 customers showed sudden debit acceleration.</a:t>
            </a:r>
          </a:p>
          <a:p>
            <a:r>
              <a:t>2. DIGITAL DETERIORATION [OBSERVED]: Over 3,700 customers have essentially abandoned the mobile app, with login recency deteriorating past 45 to 60 days.</a:t>
            </a:r>
          </a:p>
          <a:p>
            <a:r>
              <a:t>3. SERVICE FRICTION [DERIVED]: Unresolved complaints—especially fee disputes and transaction failures—act as the emotional trigger that turns digital frustration into fund withdrawal.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10 - DELIVERABLE 4: 6 ACTIONABLE ARCHETYPES]</a:t>
            </a:r>
          </a:p>
          <a:p>
            <a:r>
              <a:t>A single composite score is useless to an RM unless it explains *why* the customer is at risk and *what* to do.</a:t>
            </a:r>
          </a:p>
          <a:p>
            <a:r>
              <a:t>We clustered the at-risk population into 6 mutually exclusive operational archetypes:</a:t>
            </a:r>
          </a:p>
          <a:p>
            <a:r>
              <a:t>Notice Archetype B: 512 customers had massive outflows, but no service complaints and healthy digital logins. Calling them with desperate retention discounts annoys them. The rule engine prescribes: 'Monitor for 30 days; do not harass.'</a:t>
            </a:r>
          </a:p>
          <a:p>
            <a:r>
              <a:t>Contrast that with Archetype A: high balances combined with complaints and digital drop-off. These 198 customers represent ₹112 Crores. They get senior RM outreach within 48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11 - DELIVERABLE 4: SERVICE &amp; DIGITAL FRICTION]</a:t>
            </a:r>
          </a:p>
          <a:p>
            <a:r>
              <a:t>Slide 11 exposes the exact causal chain of silent churn: the Attrition Flywheel.</a:t>
            </a:r>
          </a:p>
          <a:p>
            <a:r>
              <a:t>It begins with digital friction—an app transfer failure or mobile KYC drop-off.</a:t>
            </a:r>
          </a:p>
          <a:p>
            <a:r>
              <a:t>The customer raises a grievance. But because average resolution TAT is 10.4 days, satisfaction collapses.</a:t>
            </a:r>
          </a:p>
          <a:p>
            <a:r>
              <a:t>Once CSAT falls below 2, the customer moves deposits to competitor fintechs.</a:t>
            </a:r>
          </a:p>
          <a:p>
            <a:r>
              <a:t>By connecting Customer_Service logs directly to Digital_Activity in our Customer 360, we catch this flywheel before funds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12 - DELIVERABLE 4: BRANCH CONCENTRATION]</a:t>
            </a:r>
          </a:p>
          <a:p>
            <a:r>
              <a:t>Our analysis demonstrates that silent churn is not evenly dispersed across the bank's 30 branches.</a:t>
            </a:r>
          </a:p>
          <a:p>
            <a:r>
              <a:t>Just 5 branches account for over ₹129 Crores—nearly 40% of the entire at-risk deposit base.</a:t>
            </a:r>
          </a:p>
          <a:p>
            <a:r>
              <a:t>Branch BR-104 alone has ₹34.8 Crores at risk due to commercial client NetBanking outages.</a:t>
            </a:r>
          </a:p>
          <a:p>
            <a:r>
              <a:t>Meanwhile, BR-112's risk is service-driven: resolution TAT is double the bank average.</a:t>
            </a:r>
          </a:p>
          <a:p>
            <a:r>
              <a:t>This allows leadership to deploy targeted regional resources where capital flight is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13 - ACTION PLAN &amp; GOVERNANCE]</a:t>
            </a:r>
          </a:p>
          <a:p>
            <a:r>
              <a:t>Analytics without execution is overhead.</a:t>
            </a:r>
          </a:p>
          <a:p>
            <a:r>
              <a:t>Slide 13 provides the executive operating model: mapping every signal to an explicit action, an executive owner, and a priority tier.</a:t>
            </a:r>
          </a:p>
          <a:p>
            <a:r>
              <a:t>- Head of Wealth Banking owns P1 outreach for the top 198 accounts.</a:t>
            </a:r>
          </a:p>
          <a:p>
            <a:r>
              <a:t>- Head of Customer Experience institutes an immediate Service Recovery Protocol.</a:t>
            </a:r>
          </a:p>
          <a:p>
            <a:r>
              <a:t>- Head of Digital Channels automates re-engagement nudges.</a:t>
            </a:r>
          </a:p>
          <a:p>
            <a:r>
              <a:t>- Compliance and Operations remediates duplicate PANs and missing KYC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14 - ROADMAP AND CONCLUSION]</a:t>
            </a:r>
          </a:p>
          <a:p>
            <a:r>
              <a:t>Finally, here is our 30-60-90 day execution roadmap:</a:t>
            </a:r>
          </a:p>
          <a:p>
            <a:r>
              <a:t>In the first 30 days, we stop the bleeding. We contact the top 198 Archetype A customers to protect ₹112 Crores in immediate flight risk, and clean up the 480 duplicate PAN records.</a:t>
            </a:r>
          </a:p>
          <a:p>
            <a:r>
              <a:t>In days 31 to 60, we tackle operational root causes: fixing the service bottleneck in branch BR-112 and reviving digital engagement.</a:t>
            </a:r>
          </a:p>
          <a:p>
            <a:r>
              <a:t>In days 61 to 90, we institutionalize the Customer 360 pipeline into core CRM systems.</a:t>
            </a:r>
          </a:p>
          <a:p>
            <a:r>
              <a:t>With this roadmap, Apex Retail Bank transitions from reactive account closure firefighting to proactive, data-driven balance sheet protection.</a:t>
            </a:r>
          </a:p>
          <a:p>
            <a:r>
              <a:t>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5603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8CAE4"/>
                </a:solidFill>
              </a:defRPr>
            </a:pPr>
            <a:r>
              <a:t>APEX RETAIL BANK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Customer 360 &amp; Silent Churn Intelligence</a:t>
            </a:r>
          </a:p>
          <a:p>
            <a:pPr>
              <a:defRPr sz="1800">
                <a:solidFill>
                  <a:srgbClr val="E9C46A"/>
                </a:solidFill>
              </a:defRPr>
            </a:pPr>
            <a:r>
              <a:t>Enterprise Data Governance, Forensic Data Quality &amp; Prescriptive Attrition Prevention</a:t>
            </a:r>
          </a:p>
          <a:p>
            <a:br/>
            <a:pPr>
              <a:defRPr sz="1300">
                <a:solidFill>
                  <a:srgbClr val="A0AEC0"/>
                </a:solidFill>
              </a:defRPr>
            </a:pPr>
            <a:r>
              <a:t>Wells Fargo MBA Case Competition | Complete 4-Deliverable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STRATEGIC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Diagnosing Silent Attrition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3946"/>
                </a:solidFill>
              </a:defRPr>
            </a:pPr>
            <a:r>
              <a:t>[OBSERVED]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WHAT IS HAPPENING?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23.5% of Customer Base (2,402 Customers) exhibit severe silent churn signals—quietly transferring funds out while digital app engagement deteriorates.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[DERIVED]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WHY DOES IT MATTER?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₹337.89 Crores in retail deposits (24.7% of total portfolio) are directly exposed to flight risk, concentrated heavily in high-margin Wealth &amp; Privileged tiers.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9C46A"/>
                </a:solidFill>
              </a:defRPr>
            </a:pPr>
            <a:r>
              <a:t>[DERIVED]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WHICH SEGMENTS ARE EXPOSED?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Wealth segment faces 48% of total deposit flight exposure. 5 core branch hubs account for 38% of at-risk balances, exacerbated by customer service friction.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</a:defRPr>
            </a:pPr>
            <a:r>
              <a:t>[RECOMMENDED]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WHAT SHOULD MANAGEMENT DO?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Execute a 6-Archetype Action Plan: prioritized 48-hour RM outreach for high-value clients, KYC &amp; data cleanup, and proactive resolution of dispute-heavy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1 — 20% WEIGHT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1: Dataset Discovery &amp; Relational Join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</a:defRPr>
            </a:pPr>
            <a:r>
              <a:t>INVENTORY &amp; GRAIN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Customer_Master: 10,200 rows | Grain: 1 row/customer | PK: Customer_ID | Missing: 20 PAN, 306 KYC.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Accounts: 14,000 rows | Grain: 1 row/account | PK: Account_ID | FK: Customer_ID → Customer_Master.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Transactions: 150,000 rows | Grain: 1 row/txn | PK: Txn_ID | FK: Account_ID → Accounts.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Loans: 5,000 rows | Grain: 1 row/loan facility | PK: Loan_ID | FK: Customer_ID → Customer_Master.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Customer_Service: 12,000 rows | Grain: 1 row/grievance | PK: Complaint_ID | FK: Customer_ID.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Digital_Activity: 150,000 rows | Grain: 1 row/session log | PK: Log_ID | FK: Customer_ID.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JOIN RISKS &amp; ORPHAN RECORDS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Orphan Transactions (DQ-022) [OBSERVED]: 1,488 txns reference non-existent Account_IDs. Must be quarantined to avoid phantom postings.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Orphan Loans (DQ-023) [OBSERVED]: 25 loans reference Customer_IDs not in Customer_Master. Direct credit exposure without KYC backing.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Join Inflation Prevention [DERIVED]: Direct 1:N fan-out joins between Accounts and Transactions cause massive balance inflation if merged naively. Solved via domain pre-aggregation.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Financial Balance Reconciliation: Accounts total ₹1,365.42 Cr matches Customer 360 exactly (0.00% discrepancy).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C46A"/>
                </a:solidFill>
              </a:defRPr>
            </a:pPr>
            <a:r>
              <a:t>MATCHING RULES &amp; ENFORCEMENT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Customer Anchor: Customer_Master serves as the single anchor entity.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Deduplication Matching: Customer_ID deduplicated; RapidFuzz multi-key matching across Name + DOB + PAN resolves 2,039 fuzzy candidate pairs.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Directionality: Strict 1-to-many single-direction filtering enforced.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Uniqueness Verification: Customer 360 grain verified as exactly 1 row per Customer_ID (10,200 distinct keys).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1 (CONT.) — 3 QUESTIONS PER DATASET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1: 18 Commercial &amp; Analytical Questions Formulated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8CAE4"/>
                </a:solidFill>
              </a:defRPr>
            </a:pPr>
            <a:r>
              <a:t>Commercial Inquiries Connecting Data to Profitability, Liquidity, Service &amp; Risk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1. Customer_Master: Q1 (Compliance) Segment KYC failure rates? | Q2 (Governance) Duplicate clusters sharing PAN/contact? | Q3 (Operations) Data quality profiles across onboarding cohorts.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2. Accounts: Q4 (Liquidity/Risk) Branch balance concentration risk? | Q5 (Profitability) Multi-account customer profitability vs single-account? | Q6 (Service) RM portfolio value overload and capacity limits.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3. Transactions: Q7 (Profitability) Net money movement (credit minus debit) by segment? | Q8 (Churn) Channels &amp; merchant categories dominating high-value outflows? | Q9 (Velocity) Trailing 90D debit acceleration.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4. Loans: Q10 (Credit Risk) NPA concentration across loan products? | Q11 (Cross-Signal) Correlation between high DPD and service complaints? | Q12 (Stressed Assets) Total exposure in 60+ DPD status by segment.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5. Customer_Service: Q13 (Service Quality) Categories with worst resolution TAT &amp; lowest CSAT? | Q14 (Churn) Linkage between fee disputes and large fund transfers? | Q15 (Operations) Branch complaint skew.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6. Digital_Activity: Q16 (Digital Engagement) Login recency &amp; session duration drop in Wealth tier? | Q17 (Strategy) Feature narrowing preceding account abandonment? | Q18 (Cross-Signal) Transfer drop-off vs complaints.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2 — 30% WEIGHT (16 DEFECTS ACROSS 6 DIMENSIONS)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2: Forensic Data Quality Scorecard &amp; Remediation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7 CRITICAL DEFECTS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Missing PAN (DQ-001): 20 accounts missing tax identifiers. Remediate via tax portal.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Duplicate PAN (DQ-007): 480 accounts sharing PAN credentials. Major AML/tax breach.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Invalid PAN Regex (DQ-009): 82 format violations. Implement gateway regex check.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Orphan Transactions (DQ-022): 1,488 txns tied to non-existent accounts.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Orphan Loans (DQ-023): 25 loans missing Customer_Master anchors.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NPA Flag Mismatch (DQ-029): 10 loans classified NPA despite DPD &lt;= 90.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A261"/>
                </a:solidFill>
              </a:defRPr>
            </a:pPr>
            <a:r>
              <a:t>7 HIGH-SEVERITY DEFECTS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Missing KYC Status (DQ-004): 306 customer records incomplete.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Duplicate Emails (DQ-008): 352 accounts sharing emails.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Invalid Email Format (DQ-010): 102 syntax errors.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Future Onboarding Dates (DQ-024): 46 temporal anomalies.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Future Account Open Dates (DQ-025): 66 accounts opened up to 2027.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Negative Balance (DQ-027): 140 non-overdraft accounts with negative balance.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REMEDIATION &amp; CONTROLS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Physical Quarantine: Violating records isolated in data/quarantine/ (13 CSV extracts).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Entity Resolution: RapidFuzz matched 2,039 fuzzy duplicate pairs in entity_resolution.xlsx.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Preventive Gateway: Enforce schema-level constraints on PAN regex and future dates.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Detective Automation: Automated daily DQ script alerts ExCo to newly surfaced anomalies.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Complete Backing: Backed by output/data_quality_scorecard.xlsx &amp; data_quality_defect_log.xlsx.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3 — 20% WEIGHT (20 STANDARDIZED FIELDS)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3: Enterprise Business Glossary &amp; Data Dictionary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8CAE4"/>
                </a:solidFill>
              </a:defRPr>
            </a:pPr>
            <a:r>
              <a:t>CUSTOMER_MASTER (9 FIELDS)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Customer_ID: VARCHAR | Pattern: ^CUST_\d{5}$ | High Trust (System PK) | Steward: Core Banking Ops.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Name: VARCHAR | Free text | Title cased, Unicode NFKD clean | Steward: Onboarding Desk.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DOB: DATE | ISO 8601 | Range: 18–100 yrs | High Trust (KYC verified) | Steward: Compliance.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PAN: CHAR(10) | Regex: ^[A-Z]{5}[0-9]{4}[A-Z]$ | Medium Trust (Entry errors) | Steward: Tax Compliance.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Email &amp; Phone: Standardized RFC 5322 &amp; E.164 numeric formatting | Steward: Digital Channels.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Segment: Permitted: Wealth, Privileged, Mass Retail | Steward: Retail Product Head.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KYC_Status: Permitted: Completed, Pending, Failed | Steward: Chief Compliance Officer.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A261"/>
                </a:solidFill>
              </a:defRPr>
            </a:pPr>
            <a:r>
              <a:t>LOANS &amp; CREDIT (4 FIELDS)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Loan_ID: VARCHAR | Pattern: ^LN_\d{5}$ | Unique credit facility identifier | Steward: Lending Ops.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Loan_Amount: DECIMAL(14,2) | Sanctioned principal | Range: &gt; 0 | Steward: Credit Underwriting.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DPD_Days: INTEGER | Days past due | Range: 0–360+ | Primary delinquency metric | Steward: Collections.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NPA_Flag: CHAR(1) | Permitted: 'Y', 'N' | RBI IRAC 90+ DPD norm | Steward: Chief Risk Officer.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Interest_Rate: DECIMAL(5,2) | Annualized interest percentage | Steward: Asset-Liability Committee.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C46A"/>
                </a:solidFill>
              </a:defRPr>
            </a:pPr>
            <a:r>
              <a:t>ACCOUNTS, TXN, CS &amp; DIGITAL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Balance: Ledger deposit balance in INR | Crucial for liquidity &amp; churn impact | Steward: Treasury.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Amount: Transaction debit/credit magnitude in INR | Steward: Payment Operations.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CSAT_Score: Integer scale (1–5) | Post-resolution satisfaction | Steward: Head of CX.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Resolution_TAT_Days: Days to close grievance | SLA monitoring | Steward: Service Operations.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Session_Duration_Min: App engagement telemetry in minutes | Steward: Digital Product Lead.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Complete Backing: Backed by output/business_glossary.xlsx (12 sheets of technical &amp; business rules).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— 30% WEIGHT (MULTI-DIMENSIONAL SCORING)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Customer 360 &amp; Silent Churn Scoring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Mathematical Formulation of the Silent Churn Risk Index (0–100 Scale)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Silent Churn Risk Index = Dim 1 (Customer Value) + Dim 2 (Outflow Signal) + Dim 3 (Digital Decay) + Dim 4 (Service Friction) + Dim 5 (Credit Stress) + Dim 6 (Data Confidence Adjustment).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1 — Customer Value (0–20 pts): Balances (40%), Account diversity (15%), Loan relationship (15%), Segment tier (30%). Measures business impact if customer leaves.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2 — Outflow Signal (0–25 pts): Recent debit volume (40%), Trailing 90D debit acceleration ratio (30%), Transaction count drop (30%). Detects active capital flight.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3 — Digital Deterioration (0–20 pts): Login recency (35%), Session frequency (35%), Digital engagement trend (30%). Identifies digital disengagement 60 days before closure.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4 — Service Friction (0–20 pts): Complaint count (25%), Recent complaints (25%), Inverted CSAT score (30%), Resolution TAT (20%). Emotional catalyst for churn.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5 — Credit Stress (0–10 pts): Max DPD (60%), NPA flag (40%). Financial distress deteriorating relationship.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Dim 6 — Data Confidence Adjustment (0–5 pts): KYC gaps, missing contact records, orphan keys. Penalizes unreliable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(CONT.) — FINANCIAL EXPOSURE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Portfolio Exposure — Customer Value vs.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TOTAL RETAIL DEPOSIT PORTFOLIO</a:t>
            </a:r>
          </a:p>
          <a:p>
            <a:pPr>
              <a:defRPr sz="2200" b="1">
                <a:solidFill>
                  <a:srgbClr val="48CAE4"/>
                </a:solidFill>
              </a:defRPr>
            </a:pPr>
            <a:r>
              <a:t>₹1,365.42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10,200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TOTAL BALANCE AT CHURN RISK</a:t>
            </a:r>
          </a:p>
          <a:p>
            <a:pPr>
              <a:defRPr sz="2200" b="1">
                <a:solidFill>
                  <a:srgbClr val="E63946"/>
                </a:solidFill>
              </a:defRPr>
            </a:pPr>
            <a:r>
              <a:t>₹337.89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24.7% of Portfolio Liabilities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WEALTH SEGMENT EXPOSURE</a:t>
            </a:r>
          </a:p>
          <a:p>
            <a:pPr>
              <a:defRPr sz="2200" b="1">
                <a:solidFill>
                  <a:srgbClr val="E9C46A"/>
                </a:solidFill>
              </a:defRPr>
            </a:pPr>
            <a:r>
              <a:t>₹162.24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48.0% of Total Balance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310896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Segment Exposure Matrix [DERIVED]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Wealth Tier: 1,020 Customers (10.0% of base) | Total Deposits: ₹520.10 Cr | High Risk: 284 Customers | Balance at Risk: ₹162.24 Cr (31.2% of segment). Severe capital concentration.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Privileged Tier: 3,060 Customers (30.0% of base) | Total Deposits: ₹465.80 Cr | High Risk: 735 Customers | Balance at Risk: ₹108.50 Cr (23.3% of segment). High digital banking sensitivity.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Mass Retail Tier: 6,120 Customers (60.0% of base) | Total Deposits: ₹379.52 Cr | High Risk: 1,383 Customers | Balance at Risk: ₹67.15 Cr (17.7% of segment). Service friction &amp; fee dispute drivers.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Strategic Takeaway [RECOMMENDED]: Retention efforts must not be democratic. Losing 1 Wealth client inflicts the same balance sheet damage as losing 25 Mass Retail accounts. Immediate executive focus on top 284 Wealth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(CONT.) — BEHAVIORAL TRIANGULATION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Triangulated Early Warning Churn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3946"/>
                </a:solidFill>
              </a:defRPr>
            </a:pPr>
            <a:r>
              <a:t>Dimension 2 (Weight: 25%)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MONEY OUTFLOW SIGNALS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Outflow Volume: 2,599 customers show recent debit spikes &gt; 75th percentile.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Outflow Velocity: Ratio of 90D debit to historical debit accelerating by &gt; 2.0x.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Transfer Activity: Rapid UPI/NetBanking transfers to external institutions without commensurate inward credit.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4A261"/>
                </a:solidFill>
              </a:defRPr>
            </a:pPr>
            <a:r>
              <a:t>Dimension 3 (Weight: 20%)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DIGITAL DETERIORATION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Login Inactivity: 3,781 customers exhibit significant drop in session recency (&gt; 45 days since login).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Feature Abandonment: App usage drops from transaction features to purely checking balances.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Session Duration: 35% decline in monthly app time preceding primary fund transfers.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8CAE4"/>
                </a:solidFill>
              </a:defRPr>
            </a:pPr>
            <a:r>
              <a:t>Dimension 4 (Weight: 20%)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SERVICE FRICTION SIGNALS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Grievance Clustering: 1,480 customers logged multiple grievances within 90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CSAT Collapse: Severe churn correlation among customers giving CSAT &lt;= 2.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Resolution Delay: Outlier resolution TAT (&gt; 20 days) creates a 3.4x higher churn propensity.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(CONT.) — OPERATIONAL TAXONOMY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Explainable Segmentation — 6 Actionable Archetypes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Actionable Frontline Archetypes &amp; Prescriptive Operating Protocols [RECOMMENDED]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A — High Value + Multi-Signal Risk (198 Customers | ₹112.4 Cr): High deposit balance + simultaneous outflow, digital decay, and complaints. ➔ PROTOCOL: Priority Senior RM outreach within 48h; personalized wealth retention offer.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B — High Outflow + Weak Supporting Evidence (512 Customers | ₹68.2 Cr): Large single outflow without app decline or complaints (e.g., tax payment or real estate purchase). ➔ PROTOCOL: 30-day monitoring; DO NOT harass customer with churn retention calls.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C — Digital Decline + Service Friction (945 Customers | ₹74.6 Cr): Frustrated digital users with low CSAT and declining logins. ➔ PROTOCOL: Digital service recovery call, fee reversal where applicable, proactive app re-onboarding.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D — Credit Stress Driven Risk (314 Customers | ₹28.5 Cr): Elevated loan DPD (30–90 days) impacting broader banking relationship. ➔ PROTOCOL: Branch credit counseling, debt restructuring review, proactive restructuring counseling.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E — Data Confidence Limited Risk (433 Customers | ₹14.1 Cr): Incomplete KYC or missing profile data rendering risk score noisy. ➔ PROTOCOL: Immediate KYC remediation outreach before taking risk or marketing actions.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F — Baseline / Stable (7,798 Customers | ₹1,067.6 Cr): Normal transaction cadence, moderate to low risk. ➔ PROTOCOL: Standard relationship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(CONT.) — ROOT CAUSE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Service Friction &amp; Digital Abandonment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</a:defRPr>
            </a:pPr>
            <a:r>
              <a:t>GRIEVANCE DRIVERS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Total Complaints: 12,000 across 7,077 customers.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Top Category: Transaction Disputes (34%) &amp; Mobile Banking Failures (28%).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Worst Channel: Branch Queue complaints yield the lowest CSAT (average 2.1 / 5.0).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TAT Outliers: 412 complaints took &gt; 30 days to resolve (standard SLA: 7 days).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A261"/>
                </a:solidFill>
              </a:defRPr>
            </a:pPr>
            <a:r>
              <a:t>DIGITAL APP USAGE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Total Activity: 150,000 sessions across 8 app modules.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Critical Drop-off: 'Transfers' and 'KYC' pages account for 58% of abandoned sessions.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Silent Churn Leading Indicator: When monthly sessions drop below 2, outflow probability doubles within 60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Inactivity Clustering: 22% of high-risk customers have zero logins in trailing 60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THE ATTRITION FLYWHEEL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1. Digital Friction: App transfer failure or login error.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2. Service Delay: Customer raises complaint; TAT exceeds 14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3. Trust Erosion: Customer rates CSAT 1 or 2.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4. Silent Outflow: Customer migrates primary deposits to competitor bank.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5. Account Becomes Dormant: Bank loses customer without notice.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DELIVERABLE 4 (CONT.) — BRANCH GOVERNANCE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Deliverable 4: Regional Governance &amp; Branch Risk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Top 5 Branch Hotspots Account for 38% of At-Risk Deposits [DERIVED]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BR-104 (Metropolitan Commercial Hub): 340 Customers | Total Deposits: ₹112.5 Cr | Balance at Risk: ₹34.8 Cr (30.9% risk rate). Driven by Wealth tier outflow and digital friction.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BR-112 (Suburban Retail Center): 410 Customers | Total Deposits: ₹94.2 Cr | Balance at Risk: ₹28.4 Cr (30.1% risk rate). Driven by high service TAT (average 16.2 days) and fee disputes.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BR-108: 380 Customers | Total Deposits: ₹88.1 Cr | Balance at Risk: ₹24.6 Cr. High concentration of credit-stressed retail borrowers (NPA cluster).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BR-121: 295 Customers | Total Deposits: ₹76.4 Cr | Balance at Risk: ₹22.1 Cr. Primary issue: pending KYC documentation causing account freeze frustrations.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BR-115: 350 Customers | Total Deposits: ₹71.0 Cr | Balance at Risk: ₹19.8 Cr. High mobile banking complaint density.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Governance Mandate [RECOMMENDED]: Regional directors must not issue generic churn targets. Branch Managers at BR-104 and BR-112 require dedicated retention taskforces and dedicated service resolution liaisons.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ACTION PLAN &amp; GOVERNANCE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Prescriptive Management Action Matrix &amp; Governance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Operational Accountability Matrix &amp; 3-Tier Governance [RECOMMENDED]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1. High-Value Multi-Signal Flight ➔ Priority Outreach: Personal call by Senior RM within 48 hours; bespoke deposit rate / wealth fee waiver. | Owner: Head of Wealth Banking | Priority: P1 - Critical.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2. Service Disruption Trigger ➔ Service Recovery Protocol: Automatic grievance escalation for high-balance clients; discretionary fee reversal up to ₹5,000 for verified delays. | Owner: Head of Customer Experience | Priority: P1 - Immediate.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3. Digital Inactivity Warning ➔ Re-engagement Nudge: Automated SMS/email prompt highlighting upgraded app features and biometric quick-login. | Owner: Head of Digital Channels | Priority: P2 - High.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4. Credit Stress Cluster ➔ Proactive Restructuring: Outreach by branch credit officers before 90-day DPD cliff; loan tenure extension options. | Owner: Chief Risk Officer / Retail Credit | Priority: P2 - High.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5. Identity &amp; KYC Defects ➔ Digital Document Portal: In-app video-KYC link sent to 480 duplicate PAN and 306 missing KYC accounts. | Owner: Head of Compliance &amp; Operations | Priority: P1 - Regulatory.</a:t>
            </a:r>
          </a:p>
          <a:p>
            <a:br/>
            <a:pPr>
              <a:defRPr sz="1050">
                <a:solidFill>
                  <a:srgbClr val="FFFFFF"/>
                </a:solidFill>
              </a:defRPr>
            </a:pPr>
            <a:r>
              <a:t>6. Preventive &amp; Detective Governance: Hard gateway API constraints (preventing invalid PAN regex and future dates) + daily automated DQ monitoring scans.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ROADMAP &amp; NEXT STEPS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Strategic Execution Roadmap: 30-60-90 Day Phasing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DAYS 1–30: TRIAGE &amp; HIGH-VALUE RETENTION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Deploy RM Outreach Console to all Wealth Relationship Managers.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Contact Top 198 Archetype A customers (protect ₹112.4 Cr).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Remediate 480 duplicate PAN identities and 306 missing KYC records.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Establish weekly DQ exception monitoring meetings.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A261"/>
                </a:solidFill>
              </a:defRPr>
            </a:pPr>
            <a:r>
              <a:t>DAYS 31–60: OPERATIONAL REPAIR &amp; BRANCH INTERVENTION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Dispatch service recovery squads to Top 5 risk branches (BR-104, BR-112, etc.).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Implement 7-day SLA cap on Transaction Dispute complaint categories.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Launch mobile app re-engagement push for 3,781 inactive digital accounts.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Ingest daily Power BI dashboards for regional directors.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9D8F"/>
                </a:solidFill>
              </a:defRPr>
            </a:pPr>
            <a:r>
              <a:t>DAYS 61–90: INSTITUTIONALIZATION &amp; AUTOMATION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Automate daily lakehouse ingestion pipeline from core banking systems.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Integrate Silent Churn Risk Index into frontline CRM screen (real-time risk badge).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Calibrate credit stress early-warning triggers with loan collection units.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Measure net deposit retention: Target ₹150+ Cr in preserved retail deposits.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